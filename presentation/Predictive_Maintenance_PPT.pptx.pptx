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5" r:id="rId5"/>
    <p:sldId id="263" r:id="rId6"/>
    <p:sldId id="266" r:id="rId7"/>
    <p:sldId id="258" r:id="rId8"/>
    <p:sldId id="264" r:id="rId9"/>
    <p:sldId id="262" r:id="rId10"/>
    <p:sldId id="259" r:id="rId11"/>
    <p:sldId id="26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AB50C8A-6839-4F71-9F05-8724801BF8AD}"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62EB45-48DE-4ED0-8A12-86FA6D2D13B3}"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9AB50C8A-6839-4F71-9F05-8724801BF8AD}"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62EB45-48DE-4ED0-8A12-86FA6D2D13B3}"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9AB50C8A-6839-4F71-9F05-8724801BF8AD}"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62EB45-48DE-4ED0-8A12-86FA6D2D13B3}"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9AB50C8A-6839-4F71-9F05-8724801BF8AD}"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C62EB45-48DE-4ED0-8A12-86FA6D2D13B3}"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9AB50C8A-6839-4F71-9F05-8724801BF8AD}"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C62EB45-48DE-4ED0-8A12-86FA6D2D13B3}"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AB50C8A-6839-4F71-9F05-8724801BF8AD}"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C62EB45-48DE-4ED0-8A12-86FA6D2D13B3}"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B50C8A-6839-4F71-9F05-8724801BF8AD}"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C62EB45-48DE-4ED0-8A12-86FA6D2D13B3}"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9AB50C8A-6839-4F71-9F05-8724801BF8AD}"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C62EB45-48DE-4ED0-8A12-86FA6D2D13B3}"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9AB50C8A-6839-4F71-9F05-8724801BF8AD}"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C62EB45-48DE-4ED0-8A12-86FA6D2D13B3}"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9AB50C8A-6839-4F71-9F05-8724801BF8AD}"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62EB45-48DE-4ED0-8A12-86FA6D2D13B3}"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9AB50C8A-6839-4F71-9F05-8724801BF8AD}"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62EB45-48DE-4ED0-8A12-86FA6D2D13B3}"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B50C8A-6839-4F71-9F05-8724801BF8AD}"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62EB45-48DE-4ED0-8A12-86FA6D2D13B3}"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1337187"/>
            <a:ext cx="9144000" cy="5112773"/>
          </a:xfrm>
        </p:spPr>
        <p:txBody>
          <a:bodyPr>
            <a:normAutofit lnSpcReduction="10000"/>
          </a:bodyPr>
          <a:lstStyle/>
          <a:p>
            <a:endParaRPr lang="en-IN"/>
          </a:p>
          <a:p>
            <a:endParaRPr lang="en-IN"/>
          </a:p>
          <a:p>
            <a:endParaRPr lang="en-IN"/>
          </a:p>
          <a:p>
            <a:endParaRPr lang="en-IN"/>
          </a:p>
          <a:p>
            <a:endParaRPr lang="en-IN"/>
          </a:p>
          <a:p>
            <a:endParaRPr lang="en-IN"/>
          </a:p>
          <a:p>
            <a:endParaRPr lang="en-IN"/>
          </a:p>
          <a:p>
            <a:r>
              <a:rPr lang="en-IN"/>
              <a:t>Instructor </a:t>
            </a:r>
            <a:endParaRPr lang="en-IN"/>
          </a:p>
          <a:p>
            <a:r>
              <a:rPr lang="en-IN"/>
              <a:t>Prof. Manisha Mhetre</a:t>
            </a:r>
            <a:endParaRPr lang="en-IN"/>
          </a:p>
          <a:p>
            <a:br>
              <a:rPr lang="en-IN"/>
            </a:br>
            <a:endParaRPr lang="en-IN"/>
          </a:p>
        </p:txBody>
      </p:sp>
      <p:sp>
        <p:nvSpPr>
          <p:cNvPr id="5" name="TextBox 4"/>
          <p:cNvSpPr txBox="1"/>
          <p:nvPr/>
        </p:nvSpPr>
        <p:spPr>
          <a:xfrm>
            <a:off x="2782528" y="518164"/>
            <a:ext cx="6272981" cy="1640840"/>
          </a:xfrm>
          <a:prstGeom prst="rect">
            <a:avLst/>
          </a:prstGeom>
          <a:noFill/>
        </p:spPr>
        <p:txBody>
          <a:bodyPr wrap="square">
            <a:sp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IN" sz="2000" b="0" i="0" u="none" strike="noStrike" kern="1200" cap="none" spc="0" normalizeH="0" baseline="0" noProof="0">
                <a:ln>
                  <a:noFill/>
                </a:ln>
                <a:solidFill>
                  <a:prstClr val="black"/>
                </a:solidFill>
                <a:effectLst/>
                <a:uLnTx/>
                <a:uFillTx/>
                <a:latin typeface="Arial Black" panose="020B0A04020102020204" pitchFamily="34" charset="0"/>
                <a:ea typeface="+mj-ea"/>
                <a:cs typeface="+mj-cs"/>
              </a:rPr>
              <a:t> (SY SEM – 1)</a:t>
            </a:r>
            <a:br>
              <a:rPr kumimoji="0" lang="en-IN" sz="2000" b="0" i="0" u="none" strike="noStrike" kern="1200" cap="none" spc="0" normalizeH="0" baseline="0" noProof="0">
                <a:ln>
                  <a:noFill/>
                </a:ln>
                <a:solidFill>
                  <a:prstClr val="black"/>
                </a:solidFill>
                <a:effectLst/>
                <a:uLnTx/>
                <a:uFillTx/>
                <a:latin typeface="Arial Black" panose="020B0A04020102020204" pitchFamily="34" charset="0"/>
                <a:ea typeface="+mj-ea"/>
                <a:cs typeface="+mj-cs"/>
              </a:rPr>
            </a:br>
            <a:br>
              <a:rPr kumimoji="0" lang="en-IN" sz="3600" b="0" i="0" u="none" strike="noStrike" kern="1200" cap="none" spc="0" normalizeH="0" baseline="0" noProof="0">
                <a:ln>
                  <a:noFill/>
                </a:ln>
                <a:solidFill>
                  <a:prstClr val="black"/>
                </a:solidFill>
                <a:effectLst/>
                <a:uLnTx/>
                <a:uFillTx/>
                <a:latin typeface="Algerian" panose="04020705040A02060702" pitchFamily="82" charset="0"/>
                <a:ea typeface="+mj-ea"/>
                <a:cs typeface="+mj-cs"/>
              </a:rPr>
            </a:br>
            <a:r>
              <a:rPr kumimoji="0" lang="en-IN" sz="2800" b="0" i="0" u="none" strike="noStrike" kern="1200" cap="none" spc="0" normalizeH="0" baseline="0" noProof="0">
                <a:ln>
                  <a:noFill/>
                </a:ln>
                <a:solidFill>
                  <a:prstClr val="black"/>
                </a:solidFill>
                <a:effectLst/>
                <a:uLnTx/>
                <a:uFillTx/>
                <a:latin typeface="Algerian" panose="04020705040A02060702" pitchFamily="82" charset="0"/>
                <a:ea typeface="+mj-ea"/>
                <a:cs typeface="+mj-cs"/>
              </a:rPr>
              <a:t>AI POWERDED PREDICTIVE MAINTAINANCE SYSTEM</a:t>
            </a:r>
            <a:endParaRPr kumimoji="0" lang="en-IN" sz="2800" b="0" i="0" u="none" strike="noStrike" kern="1200" cap="none" spc="0" normalizeH="0" baseline="0" noProof="0" dirty="0">
              <a:ln>
                <a:noFill/>
              </a:ln>
              <a:solidFill>
                <a:prstClr val="black"/>
              </a:solidFill>
              <a:effectLst/>
              <a:uLnTx/>
              <a:uFillTx/>
              <a:latin typeface="Algerian" panose="04020705040A02060702" pitchFamily="82" charset="0"/>
              <a:ea typeface="+mj-ea"/>
              <a:cs typeface="+mj-cs"/>
            </a:endParaRPr>
          </a:p>
        </p:txBody>
      </p:sp>
      <p:graphicFrame>
        <p:nvGraphicFramePr>
          <p:cNvPr id="6" name="Table 5"/>
          <p:cNvGraphicFramePr/>
          <p:nvPr/>
        </p:nvGraphicFramePr>
        <p:xfrm>
          <a:off x="1828800" y="2438400"/>
          <a:ext cx="8533765" cy="1524000"/>
        </p:xfrm>
        <a:graphic>
          <a:graphicData uri="http://schemas.openxmlformats.org/drawingml/2006/table">
            <a:tbl>
              <a:tblPr firstRow="1" bandRow="1">
                <a:tableStyleId>{5C22544A-7EE6-4342-B048-85BDC9FD1C3A}</a:tableStyleId>
              </a:tblPr>
              <a:tblGrid>
                <a:gridCol w="2132965"/>
                <a:gridCol w="2132965"/>
                <a:gridCol w="2132965"/>
                <a:gridCol w="2132965"/>
              </a:tblGrid>
              <a:tr h="381000">
                <a:tc>
                  <a:txBody>
                    <a:bodyPr/>
                    <a:p>
                      <a:pPr>
                        <a:buNone/>
                      </a:pPr>
                      <a:r>
                        <a:rPr lang="en-IN" altLang="en-US"/>
                        <a:t>Sr No. </a:t>
                      </a:r>
                      <a:endParaRPr lang="en-IN" altLang="en-US"/>
                    </a:p>
                  </a:txBody>
                  <a:tcPr/>
                </a:tc>
                <a:tc>
                  <a:txBody>
                    <a:bodyPr/>
                    <a:p>
                      <a:pPr>
                        <a:buNone/>
                      </a:pPr>
                      <a:r>
                        <a:rPr lang="en-IN" altLang="en-US"/>
                        <a:t>Name </a:t>
                      </a:r>
                      <a:endParaRPr lang="en-IN" altLang="en-US"/>
                    </a:p>
                  </a:txBody>
                  <a:tcPr/>
                </a:tc>
                <a:tc>
                  <a:txBody>
                    <a:bodyPr/>
                    <a:p>
                      <a:pPr>
                        <a:buNone/>
                      </a:pPr>
                      <a:r>
                        <a:rPr lang="en-IN" altLang="en-US"/>
                        <a:t>PRN</a:t>
                      </a:r>
                      <a:endParaRPr lang="en-IN" altLang="en-US"/>
                    </a:p>
                  </a:txBody>
                  <a:tcPr/>
                </a:tc>
                <a:tc>
                  <a:txBody>
                    <a:bodyPr/>
                    <a:p>
                      <a:pPr>
                        <a:buNone/>
                      </a:pPr>
                      <a:r>
                        <a:rPr lang="en-IN" altLang="en-US"/>
                        <a:t>Roll No.</a:t>
                      </a:r>
                      <a:endParaRPr lang="en-IN" altLang="en-US"/>
                    </a:p>
                  </a:txBody>
                  <a:tcPr/>
                </a:tc>
              </a:tr>
              <a:tr h="381000">
                <a:tc>
                  <a:txBody>
                    <a:bodyPr/>
                    <a:p>
                      <a:pPr>
                        <a:buNone/>
                      </a:pPr>
                      <a:r>
                        <a:rPr lang="en-IN" altLang="en-US"/>
                        <a:t>1</a:t>
                      </a:r>
                      <a:endParaRPr lang="en-IN" altLang="en-US"/>
                    </a:p>
                  </a:txBody>
                  <a:tcPr/>
                </a:tc>
                <a:tc>
                  <a:txBody>
                    <a:bodyPr/>
                    <a:p>
                      <a:pPr>
                        <a:buNone/>
                      </a:pPr>
                      <a:r>
                        <a:rPr lang="en-IN" altLang="en-US"/>
                        <a:t>Harshvardhan Vitthal Shinde</a:t>
                      </a:r>
                      <a:endParaRPr lang="en-IN" altLang="en-US"/>
                    </a:p>
                  </a:txBody>
                  <a:tcPr/>
                </a:tc>
                <a:tc>
                  <a:txBody>
                    <a:bodyPr/>
                    <a:p>
                      <a:pPr>
                        <a:buNone/>
                      </a:pPr>
                      <a:r>
                        <a:rPr lang="en-IN" altLang="en-US"/>
                        <a:t>12413756</a:t>
                      </a:r>
                      <a:endParaRPr lang="en-IN" altLang="en-US"/>
                    </a:p>
                  </a:txBody>
                  <a:tcPr/>
                </a:tc>
                <a:tc>
                  <a:txBody>
                    <a:bodyPr/>
                    <a:p>
                      <a:pPr>
                        <a:buNone/>
                      </a:pPr>
                      <a:r>
                        <a:rPr lang="en-IN" altLang="en-US"/>
                        <a:t>10</a:t>
                      </a:r>
                      <a:endParaRPr lang="en-IN" altLang="en-US"/>
                    </a:p>
                  </a:txBody>
                  <a:tcPr/>
                </a:tc>
              </a:tr>
              <a:tr h="381000">
                <a:tc>
                  <a:txBody>
                    <a:bodyPr/>
                    <a:p>
                      <a:pPr>
                        <a:buNone/>
                      </a:pPr>
                      <a:r>
                        <a:rPr lang="en-IN" altLang="en-US"/>
                        <a:t>2</a:t>
                      </a:r>
                      <a:endParaRPr lang="en-IN" altLang="en-US"/>
                    </a:p>
                  </a:txBody>
                  <a:tcPr/>
                </a:tc>
                <a:tc>
                  <a:txBody>
                    <a:bodyPr/>
                    <a:p>
                      <a:pPr>
                        <a:buNone/>
                      </a:pPr>
                      <a:r>
                        <a:rPr lang="en-IN" altLang="en-US"/>
                        <a:t>Sandesh Gaykwad</a:t>
                      </a:r>
                      <a:endParaRPr lang="en-IN" altLang="en-US"/>
                    </a:p>
                  </a:txBody>
                  <a:tcPr/>
                </a:tc>
                <a:tc>
                  <a:txBody>
                    <a:bodyPr/>
                    <a:p>
                      <a:pPr>
                        <a:buNone/>
                      </a:pPr>
                      <a:endParaRPr lang="en-US"/>
                    </a:p>
                  </a:txBody>
                  <a:tcPr/>
                </a:tc>
                <a:tc>
                  <a:txBody>
                    <a:bodyPr/>
                    <a:p>
                      <a:pPr>
                        <a:buNone/>
                      </a:pPr>
                      <a:endParaRPr lang="en-US"/>
                    </a:p>
                  </a:txBody>
                  <a:tcPr/>
                </a:tc>
              </a:tr>
              <a:tr h="381000">
                <a:tc>
                  <a:txBody>
                    <a:bodyPr/>
                    <a:p>
                      <a:pPr>
                        <a:buNone/>
                      </a:pPr>
                      <a:r>
                        <a:rPr lang="en-IN" altLang="en-US"/>
                        <a:t>3</a:t>
                      </a:r>
                      <a:endParaRPr lang="en-IN" altLang="en-US"/>
                    </a:p>
                  </a:txBody>
                  <a:tcPr/>
                </a:tc>
                <a:tc>
                  <a:txBody>
                    <a:bodyPr/>
                    <a:p>
                      <a:pPr>
                        <a:buNone/>
                      </a:pPr>
                      <a:r>
                        <a:rPr lang="en-IN" altLang="en-US"/>
                        <a:t>Varun Nilesh Lolage</a:t>
                      </a:r>
                      <a:endParaRPr lang="en-IN" altLang="en-US"/>
                    </a:p>
                  </a:txBody>
                  <a:tcPr/>
                </a:tc>
                <a:tc>
                  <a:txBody>
                    <a:bodyPr/>
                    <a:p>
                      <a:pPr>
                        <a:buNone/>
                      </a:pPr>
                      <a:r>
                        <a:rPr lang="en-US" altLang="en-US"/>
                        <a:t>12415221</a:t>
                      </a:r>
                      <a:endParaRPr lang="en-US" altLang="en-US"/>
                    </a:p>
                  </a:txBody>
                  <a:tcPr/>
                </a:tc>
                <a:tc>
                  <a:txBody>
                    <a:bodyPr/>
                    <a:p>
                      <a:pPr>
                        <a:buNone/>
                      </a:pPr>
                      <a:r>
                        <a:rPr lang="en-IN" altLang="en-US"/>
                        <a:t>68</a:t>
                      </a:r>
                      <a:endParaRPr lang="en-IN" altLang="en-US"/>
                    </a:p>
                  </a:txBody>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064342" y="365124"/>
          <a:ext cx="10515600" cy="539443"/>
        </p:xfrm>
        <a:graphic>
          <a:graphicData uri="http://schemas.openxmlformats.org/drawingml/2006/table">
            <a:tbl>
              <a:tblPr firstRow="1" bandRow="1">
                <a:tableStyleId>{5C22544A-7EE6-4342-B048-85BDC9FD1C3A}</a:tableStyleId>
              </a:tblPr>
              <a:tblGrid>
                <a:gridCol w="10515600"/>
              </a:tblGrid>
              <a:tr h="539443">
                <a:tc>
                  <a:txBody>
                    <a:bodyPr/>
                    <a:lstStyle/>
                    <a:p>
                      <a:pPr algn="ctr"/>
                      <a:r>
                        <a:rPr lang="en-IN" sz="2400"/>
                        <a:t>Problem Statement</a:t>
                      </a:r>
                      <a:endParaRPr lang="en-IN" sz="2400"/>
                    </a:p>
                  </a:txBody>
                  <a:tcPr/>
                </a:tc>
              </a:tr>
            </a:tbl>
          </a:graphicData>
        </a:graphic>
      </p:graphicFrame>
      <p:sp>
        <p:nvSpPr>
          <p:cNvPr id="6" name="TextBox 5"/>
          <p:cNvSpPr txBox="1"/>
          <p:nvPr/>
        </p:nvSpPr>
        <p:spPr>
          <a:xfrm>
            <a:off x="1122106" y="1443841"/>
            <a:ext cx="10400071" cy="3970318"/>
          </a:xfrm>
          <a:prstGeom prst="rect">
            <a:avLst/>
          </a:prstGeom>
          <a:noFill/>
        </p:spPr>
        <p:txBody>
          <a:bodyPr wrap="square">
            <a:spAutoFit/>
          </a:bodyPr>
          <a:lstStyle/>
          <a:p>
            <a:pPr>
              <a:buNone/>
            </a:pPr>
            <a:r>
              <a:rPr lang="en-US"/>
              <a:t>An </a:t>
            </a:r>
            <a:r>
              <a:rPr lang="en-US" b="1"/>
              <a:t>AI-Powered Predictive Maintenance System</a:t>
            </a:r>
            <a:r>
              <a:rPr lang="en-US"/>
              <a:t> is a smart industrial solution that uses </a:t>
            </a:r>
            <a:r>
              <a:rPr lang="en-US" b="1"/>
              <a:t>Artificial Intelligence (AI), Machine Learning (ML), and IoT sensors</a:t>
            </a:r>
            <a:r>
              <a:rPr lang="en-US"/>
              <a:t> to monitor the condition of machines in real-time.</a:t>
            </a:r>
            <a:br>
              <a:rPr lang="en-US"/>
            </a:br>
            <a:r>
              <a:rPr lang="en-US"/>
              <a:t>Instead of waiting for equipment to fail or performing unnecessary routine checks, this system </a:t>
            </a:r>
            <a:r>
              <a:rPr lang="en-US" b="1"/>
              <a:t>predicts failures in advance</a:t>
            </a:r>
            <a:r>
              <a:rPr lang="en-US"/>
              <a:t> and schedules maintenance only when needed.</a:t>
            </a:r>
            <a:endParaRPr lang="en-US"/>
          </a:p>
          <a:p>
            <a:pPr>
              <a:buNone/>
            </a:pPr>
            <a:endParaRPr lang="en-US"/>
          </a:p>
          <a:p>
            <a:pPr>
              <a:buNone/>
            </a:pPr>
            <a:r>
              <a:rPr lang="en-US"/>
              <a:t>This innovation helps industries to:</a:t>
            </a:r>
            <a:endParaRPr lang="en-US"/>
          </a:p>
          <a:p>
            <a:pPr>
              <a:buNone/>
            </a:pPr>
            <a:endParaRPr lang="en-US"/>
          </a:p>
          <a:p>
            <a:pPr>
              <a:buFont typeface="Arial" panose="020B0604020202020204" pitchFamily="34" charset="0"/>
              <a:buChar char="•"/>
            </a:pPr>
            <a:r>
              <a:rPr lang="en-US"/>
              <a:t>Minimize </a:t>
            </a:r>
            <a:r>
              <a:rPr lang="en-US" b="1"/>
              <a:t>unplanned downtime</a:t>
            </a:r>
            <a:endParaRPr lang="en-US"/>
          </a:p>
          <a:p>
            <a:pPr>
              <a:buFont typeface="Arial" panose="020B0604020202020204" pitchFamily="34" charset="0"/>
              <a:buChar char="•"/>
            </a:pPr>
            <a:r>
              <a:rPr lang="en-US"/>
              <a:t>Reduce </a:t>
            </a:r>
            <a:r>
              <a:rPr lang="en-US" b="1"/>
              <a:t>maintenance costs</a:t>
            </a:r>
            <a:endParaRPr lang="en-US"/>
          </a:p>
          <a:p>
            <a:pPr>
              <a:buFont typeface="Arial" panose="020B0604020202020204" pitchFamily="34" charset="0"/>
              <a:buChar char="•"/>
            </a:pPr>
            <a:r>
              <a:rPr lang="en-US"/>
              <a:t>Extend </a:t>
            </a:r>
            <a:r>
              <a:rPr lang="en-US" b="1"/>
              <a:t>machine lifespan</a:t>
            </a:r>
            <a:endParaRPr lang="en-US"/>
          </a:p>
          <a:p>
            <a:pPr>
              <a:buFont typeface="Arial" panose="020B0604020202020204" pitchFamily="34" charset="0"/>
              <a:buChar char="•"/>
            </a:pPr>
            <a:r>
              <a:rPr lang="en-US"/>
              <a:t>Improve </a:t>
            </a:r>
            <a:r>
              <a:rPr lang="en-US" b="1"/>
              <a:t>safety and efficiency</a:t>
            </a:r>
            <a:endParaRPr lang="en-US" b="1"/>
          </a:p>
          <a:p>
            <a:pPr>
              <a:buFont typeface="Arial" panose="020B0604020202020204" pitchFamily="34" charset="0"/>
              <a:buChar char="•"/>
            </a:pPr>
            <a:endParaRPr lang="en-US"/>
          </a:p>
          <a:p>
            <a:pPr>
              <a:buNone/>
            </a:pPr>
            <a:r>
              <a:rPr lang="en-US"/>
              <a:t>By transforming traditional maintenance into </a:t>
            </a:r>
            <a:r>
              <a:rPr lang="en-US" b="1"/>
              <a:t>intelligent, data-driven decision making</a:t>
            </a:r>
            <a:r>
              <a:rPr lang="en-US"/>
              <a:t>, AI-powered predictive maintenance is revolutionizing the future of industries.</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27751"/>
          </a:xfrm>
        </p:spPr>
        <p:txBody>
          <a:bodyPr/>
          <a:lstStyle/>
          <a:p>
            <a:pPr marR="0" lvl="0" defTabSz="914400" rtl="0" eaLnBrk="0" fontAlgn="base" latinLnBrk="0" hangingPunct="0">
              <a:lnSpc>
                <a:spcPct val="100000"/>
              </a:lnSpc>
              <a:spcBef>
                <a:spcPct val="0"/>
              </a:spcBef>
              <a:spcAft>
                <a:spcPct val="0"/>
              </a:spcAf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 To </a:t>
            </a:r>
            <a:r>
              <a:rPr kumimoji="0" lang="en-US" altLang="en-US" sz="1800" b="1" i="0" u="none" strike="noStrike" kern="1200" cap="none" spc="0" normalizeH="0" baseline="0" noProof="0">
                <a:ln>
                  <a:noFill/>
                </a:ln>
                <a:solidFill>
                  <a:prstClr val="black"/>
                </a:solidFill>
                <a:effectLst/>
                <a:uLnTx/>
                <a:uFillTx/>
                <a:latin typeface="Arial" panose="020B0604020202020204" pitchFamily="34" charset="0"/>
                <a:ea typeface="+mn-ea"/>
                <a:cs typeface="+mn-cs"/>
              </a:rPr>
              <a:t>monitor machine health</a:t>
            </a: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 in real-time using IoT sensors.</a:t>
            </a:r>
            <a:b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br>
            <a:b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b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To </a:t>
            </a:r>
            <a:r>
              <a:rPr kumimoji="0" lang="en-US" altLang="en-US" sz="1800" b="1" i="0" u="none" strike="noStrike" kern="1200" cap="none" spc="0" normalizeH="0" baseline="0" noProof="0">
                <a:ln>
                  <a:noFill/>
                </a:ln>
                <a:solidFill>
                  <a:prstClr val="black"/>
                </a:solidFill>
                <a:effectLst/>
                <a:uLnTx/>
                <a:uFillTx/>
                <a:latin typeface="Arial" panose="020B0604020202020204" pitchFamily="34" charset="0"/>
                <a:ea typeface="+mn-ea"/>
                <a:cs typeface="+mn-cs"/>
              </a:rPr>
              <a:t>predict failures in advance</a:t>
            </a: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 using AI and Machine Learning models.</a:t>
            </a:r>
            <a:b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br>
            <a:b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b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To </a:t>
            </a:r>
            <a:r>
              <a:rPr kumimoji="0" lang="en-US" altLang="en-US" sz="1800" b="1" i="0" u="none" strike="noStrike" kern="1200" cap="none" spc="0" normalizeH="0" baseline="0" noProof="0">
                <a:ln>
                  <a:noFill/>
                </a:ln>
                <a:solidFill>
                  <a:prstClr val="black"/>
                </a:solidFill>
                <a:effectLst/>
                <a:uLnTx/>
                <a:uFillTx/>
                <a:latin typeface="Arial" panose="020B0604020202020204" pitchFamily="34" charset="0"/>
                <a:ea typeface="+mn-ea"/>
                <a:cs typeface="+mn-cs"/>
              </a:rPr>
              <a:t>reduce unplanned downtime</a:t>
            </a: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 and improve overall equipment efficiency (OEE).</a:t>
            </a:r>
            <a:b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br>
            <a:b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b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To </a:t>
            </a:r>
            <a:r>
              <a:rPr kumimoji="0" lang="en-US" altLang="en-US" sz="1800" b="1" i="0" u="none" strike="noStrike" kern="1200" cap="none" spc="0" normalizeH="0" baseline="0" noProof="0">
                <a:ln>
                  <a:noFill/>
                </a:ln>
                <a:solidFill>
                  <a:prstClr val="black"/>
                </a:solidFill>
                <a:effectLst/>
                <a:uLnTx/>
                <a:uFillTx/>
                <a:latin typeface="Arial" panose="020B0604020202020204" pitchFamily="34" charset="0"/>
                <a:ea typeface="+mn-ea"/>
                <a:cs typeface="+mn-cs"/>
              </a:rPr>
              <a:t>minimize maintenance costs</a:t>
            </a: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 by performing servicing only when required.</a:t>
            </a:r>
            <a:b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br>
            <a:b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b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To </a:t>
            </a:r>
            <a:r>
              <a:rPr kumimoji="0" lang="en-US" altLang="en-US" sz="1800" b="1" i="0" u="none" strike="noStrike" kern="1200" cap="none" spc="0" normalizeH="0" baseline="0" noProof="0">
                <a:ln>
                  <a:noFill/>
                </a:ln>
                <a:solidFill>
                  <a:prstClr val="black"/>
                </a:solidFill>
                <a:effectLst/>
                <a:uLnTx/>
                <a:uFillTx/>
                <a:latin typeface="Arial" panose="020B0604020202020204" pitchFamily="34" charset="0"/>
                <a:ea typeface="+mn-ea"/>
                <a:cs typeface="+mn-cs"/>
              </a:rPr>
              <a:t>increase machine lifespan</a:t>
            </a: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 through timely and accurate maintenance.</a:t>
            </a:r>
            <a:b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br>
            <a:b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b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To </a:t>
            </a:r>
            <a:r>
              <a:rPr kumimoji="0" lang="en-US" altLang="en-US" sz="1800" b="1" i="0" u="none" strike="noStrike" kern="1200" cap="none" spc="0" normalizeH="0" baseline="0" noProof="0">
                <a:ln>
                  <a:noFill/>
                </a:ln>
                <a:solidFill>
                  <a:prstClr val="black"/>
                </a:solidFill>
                <a:effectLst/>
                <a:uLnTx/>
                <a:uFillTx/>
                <a:latin typeface="Arial" panose="020B0604020202020204" pitchFamily="34" charset="0"/>
                <a:ea typeface="+mn-ea"/>
                <a:cs typeface="+mn-cs"/>
              </a:rPr>
              <a:t>enhance safety</a:t>
            </a: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 by preventing sudden breakdowns or accidents.</a:t>
            </a:r>
            <a:b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br>
            <a:b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b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To provide a </a:t>
            </a:r>
            <a:r>
              <a:rPr kumimoji="0" lang="en-US" altLang="en-US" sz="1800" b="1" i="0" u="none" strike="noStrike" kern="1200" cap="none" spc="0" normalizeH="0" baseline="0" noProof="0">
                <a:ln>
                  <a:noFill/>
                </a:ln>
                <a:solidFill>
                  <a:prstClr val="black"/>
                </a:solidFill>
                <a:effectLst/>
                <a:uLnTx/>
                <a:uFillTx/>
                <a:latin typeface="Arial" panose="020B0604020202020204" pitchFamily="34" charset="0"/>
                <a:ea typeface="+mn-ea"/>
                <a:cs typeface="+mn-cs"/>
              </a:rPr>
              <a:t>dashboard and alerts system</a:t>
            </a: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 for easy decision-making by maintenance teams.</a:t>
            </a:r>
            <a:b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br>
            <a:endParaRPr lang="en-IN"/>
          </a:p>
        </p:txBody>
      </p:sp>
      <p:graphicFrame>
        <p:nvGraphicFramePr>
          <p:cNvPr id="4" name="Content Placeholder 3"/>
          <p:cNvGraphicFramePr>
            <a:graphicFrameLocks noGrp="1"/>
          </p:cNvGraphicFramePr>
          <p:nvPr>
            <p:ph idx="1"/>
          </p:nvPr>
        </p:nvGraphicFramePr>
        <p:xfrm>
          <a:off x="1064342" y="365124"/>
          <a:ext cx="10515600" cy="539443"/>
        </p:xfrm>
        <a:graphic>
          <a:graphicData uri="http://schemas.openxmlformats.org/drawingml/2006/table">
            <a:tbl>
              <a:tblPr firstRow="1" bandRow="1">
                <a:tableStyleId>{5C22544A-7EE6-4342-B048-85BDC9FD1C3A}</a:tableStyleId>
              </a:tblPr>
              <a:tblGrid>
                <a:gridCol w="10515600"/>
              </a:tblGrid>
              <a:tr h="539443">
                <a:tc>
                  <a:txBody>
                    <a:bodyPr/>
                    <a:lstStyle/>
                    <a:p>
                      <a:pPr algn="ctr"/>
                      <a:r>
                        <a:rPr lang="en-IN" sz="2400"/>
                        <a:t>Objective</a:t>
                      </a:r>
                      <a:endParaRPr lang="en-IN" sz="2400"/>
                    </a:p>
                  </a:txBody>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a:stretch>
            <a:fillRect/>
          </a:stretch>
        </p:blipFill>
        <p:spPr>
          <a:xfrm>
            <a:off x="3248330" y="835742"/>
            <a:ext cx="6636773" cy="5545394"/>
          </a:xfrm>
          <a:prstGeom prst="rect">
            <a:avLst/>
          </a:prstGeom>
        </p:spPr>
      </p:pic>
      <p:graphicFrame>
        <p:nvGraphicFramePr>
          <p:cNvPr id="5" name="Table 4"/>
          <p:cNvGraphicFramePr>
            <a:graphicFrameLocks noGrp="1"/>
          </p:cNvGraphicFramePr>
          <p:nvPr/>
        </p:nvGraphicFramePr>
        <p:xfrm>
          <a:off x="1779638" y="315964"/>
          <a:ext cx="9574159" cy="519778"/>
        </p:xfrm>
        <a:graphic>
          <a:graphicData uri="http://schemas.openxmlformats.org/drawingml/2006/table">
            <a:tbl>
              <a:tblPr firstRow="1" bandRow="1">
                <a:tableStyleId>{5C22544A-7EE6-4342-B048-85BDC9FD1C3A}</a:tableStyleId>
              </a:tblPr>
              <a:tblGrid>
                <a:gridCol w="9574159"/>
              </a:tblGrid>
              <a:tr h="519778">
                <a:tc>
                  <a:txBody>
                    <a:bodyPr/>
                    <a:lstStyle/>
                    <a:p>
                      <a:pPr algn="ctr"/>
                      <a:r>
                        <a:rPr lang="en-IN" sz="2400"/>
                        <a:t>Block Diagram</a:t>
                      </a:r>
                      <a:endParaRPr lang="en-IN" sz="2400"/>
                    </a:p>
                  </a:txBody>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838200" y="365125"/>
          <a:ext cx="10515600" cy="539443"/>
        </p:xfrm>
        <a:graphic>
          <a:graphicData uri="http://schemas.openxmlformats.org/drawingml/2006/table">
            <a:tbl>
              <a:tblPr firstRow="1" bandRow="1">
                <a:tableStyleId>{5C22544A-7EE6-4342-B048-85BDC9FD1C3A}</a:tableStyleId>
              </a:tblPr>
              <a:tblGrid>
                <a:gridCol w="10515600"/>
              </a:tblGrid>
              <a:tr h="539443">
                <a:tc>
                  <a:txBody>
                    <a:bodyPr/>
                    <a:lstStyle/>
                    <a:p>
                      <a:pPr algn="ctr"/>
                      <a:r>
                        <a:rPr lang="en-IN" sz="2400"/>
                        <a:t>Particular techniques</a:t>
                      </a:r>
                      <a:endParaRPr lang="en-IN" sz="2400"/>
                    </a:p>
                  </a:txBody>
                  <a:tcPr/>
                </a:tc>
              </a:tr>
            </a:tbl>
          </a:graphicData>
        </a:graphic>
      </p:graphicFrame>
      <p:sp>
        <p:nvSpPr>
          <p:cNvPr id="3" name="TextBox 5"/>
          <p:cNvSpPr txBox="1"/>
          <p:nvPr/>
        </p:nvSpPr>
        <p:spPr>
          <a:xfrm>
            <a:off x="1042219" y="1859340"/>
            <a:ext cx="10196052" cy="31393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IN" sz="1800" b="1" i="0" u="none" strike="noStrike" kern="1200" cap="none" spc="0" normalizeH="0" baseline="0" noProof="0" dirty="0">
                <a:ln>
                  <a:noFill/>
                </a:ln>
                <a:solidFill>
                  <a:sysClr val="windowText" lastClr="000000"/>
                </a:solidFill>
                <a:effectLst/>
                <a:uLnTx/>
                <a:uFillTx/>
                <a:latin typeface="Calibri" panose="020F0502020204030204"/>
                <a:ea typeface="+mn-ea"/>
                <a:cs typeface="+mn-cs"/>
              </a:rPr>
              <a:t>IoT Sensors</a:t>
            </a:r>
            <a:r>
              <a:rPr kumimoji="0" lang="en-IN"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 → Vibration, temperature, current, pressure data.</a:t>
            </a:r>
            <a:endParaRPr kumimoji="0" lang="en-IN"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IN" sz="1800" b="1" i="0" u="none" strike="noStrike" kern="1200" cap="none" spc="0" normalizeH="0" baseline="0" noProof="0" dirty="0">
                <a:ln>
                  <a:noFill/>
                </a:ln>
                <a:solidFill>
                  <a:sysClr val="windowText" lastClr="000000"/>
                </a:solidFill>
                <a:effectLst/>
                <a:uLnTx/>
                <a:uFillTx/>
                <a:latin typeface="Calibri" panose="020F0502020204030204"/>
                <a:ea typeface="+mn-ea"/>
                <a:cs typeface="+mn-cs"/>
              </a:rPr>
              <a:t>Data Preprocessing</a:t>
            </a:r>
            <a:r>
              <a:rPr kumimoji="0" lang="en-IN"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 → Filtering, feature extraction, normalization.</a:t>
            </a:r>
            <a:endParaRPr kumimoji="0" lang="en-IN"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IN" sz="1800" b="1" i="0" u="none" strike="noStrike" kern="1200" cap="none" spc="0" normalizeH="0" baseline="0" noProof="0" dirty="0">
                <a:ln>
                  <a:noFill/>
                </a:ln>
                <a:solidFill>
                  <a:sysClr val="windowText" lastClr="000000"/>
                </a:solidFill>
                <a:effectLst/>
                <a:uLnTx/>
                <a:uFillTx/>
                <a:latin typeface="Calibri" panose="020F0502020204030204"/>
                <a:ea typeface="+mn-ea"/>
                <a:cs typeface="+mn-cs"/>
              </a:rPr>
              <a:t>Machine Learning</a:t>
            </a:r>
            <a:r>
              <a:rPr kumimoji="0" lang="en-IN"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 → Classification, regression, anomaly detection.</a:t>
            </a:r>
            <a:endParaRPr kumimoji="0" lang="en-IN"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IN" sz="1800" b="1" i="0" u="none" strike="noStrike" kern="1200" cap="none" spc="0" normalizeH="0" baseline="0" noProof="0" dirty="0">
                <a:ln>
                  <a:noFill/>
                </a:ln>
                <a:solidFill>
                  <a:sysClr val="windowText" lastClr="000000"/>
                </a:solidFill>
                <a:effectLst/>
                <a:uLnTx/>
                <a:uFillTx/>
                <a:latin typeface="Calibri" panose="020F0502020204030204"/>
                <a:ea typeface="+mn-ea"/>
                <a:cs typeface="+mn-cs"/>
              </a:rPr>
              <a:t>Time-Series Analysis</a:t>
            </a:r>
            <a:r>
              <a:rPr kumimoji="0" lang="en-IN"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 → ARIMA, LSTM for sequential data.</a:t>
            </a:r>
            <a:endParaRPr kumimoji="0" lang="en-IN"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IN" sz="1800" b="1" i="0" u="none" strike="noStrike" kern="1200" cap="none" spc="0" normalizeH="0" baseline="0" noProof="0" dirty="0">
                <a:ln>
                  <a:noFill/>
                </a:ln>
                <a:solidFill>
                  <a:sysClr val="windowText" lastClr="000000"/>
                </a:solidFill>
                <a:effectLst/>
                <a:uLnTx/>
                <a:uFillTx/>
                <a:latin typeface="Calibri" panose="020F0502020204030204"/>
                <a:ea typeface="+mn-ea"/>
                <a:cs typeface="+mn-cs"/>
              </a:rPr>
              <a:t>Cloud &amp; Edge Computing</a:t>
            </a:r>
            <a:r>
              <a:rPr kumimoji="0" lang="en-IN"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 → Data storage, real-time processing.</a:t>
            </a:r>
            <a:endParaRPr kumimoji="0" lang="en-IN"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IN" sz="1800" b="1" i="0" u="none" strike="noStrike" kern="1200" cap="none" spc="0" normalizeH="0" baseline="0" noProof="0" dirty="0">
                <a:ln>
                  <a:noFill/>
                </a:ln>
                <a:solidFill>
                  <a:sysClr val="windowText" lastClr="000000"/>
                </a:solidFill>
                <a:effectLst/>
                <a:uLnTx/>
                <a:uFillTx/>
                <a:latin typeface="Calibri" panose="020F0502020204030204"/>
                <a:ea typeface="+mn-ea"/>
                <a:cs typeface="+mn-cs"/>
              </a:rPr>
              <a:t>Visualization &amp; Alerts</a:t>
            </a:r>
            <a:r>
              <a:rPr kumimoji="0" lang="en-IN"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 → Dashboards, notifications.</a:t>
            </a:r>
            <a:endParaRPr kumimoji="0" lang="en-IN"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288423"/>
          </a:xfrm>
        </p:spPr>
        <p:txBody>
          <a:bodyPr>
            <a:normAutofit/>
          </a:bodyPr>
          <a:lstStyle/>
          <a:p>
            <a:r>
              <a:rPr lang="en-IN" sz="2000" b="1"/>
              <a:t>ESP32 Devkit :</a:t>
            </a:r>
            <a:r>
              <a:rPr lang="en-IN" sz="2000"/>
              <a:t>The microcontroller, to read the from all sensors,process data.</a:t>
            </a:r>
            <a:br>
              <a:rPr lang="en-IN" sz="2000"/>
            </a:br>
            <a:r>
              <a:rPr lang="en-IN" sz="2000" b="1"/>
              <a:t>ADS1115:</a:t>
            </a:r>
            <a:r>
              <a:rPr lang="en-IN" sz="2000"/>
              <a:t> High resolution anolog to digital converter.</a:t>
            </a:r>
            <a:br>
              <a:rPr lang="en-IN"/>
            </a:br>
            <a:r>
              <a:rPr lang="en-IN" sz="2200" b="1"/>
              <a:t>ADXL345 module: </a:t>
            </a:r>
            <a:r>
              <a:rPr lang="en-IN" sz="2200"/>
              <a:t>For Vibration/Shock moitoring.measures acceleration along X,Y,Z axes</a:t>
            </a:r>
            <a:br>
              <a:rPr lang="en-IN" sz="2200"/>
            </a:br>
            <a:r>
              <a:rPr lang="en-IN" sz="2200" b="1"/>
              <a:t>RTCDS3231</a:t>
            </a:r>
            <a:r>
              <a:rPr lang="en-IN" sz="2200"/>
              <a:t>:High accuracy Real-time. </a:t>
            </a:r>
            <a:br>
              <a:rPr lang="en-IN" sz="2200"/>
            </a:br>
            <a:r>
              <a:rPr lang="en-IN" sz="2200" b="1"/>
              <a:t>Current sensor ACS712:</a:t>
            </a:r>
            <a:r>
              <a:rPr lang="en-IN" sz="2200"/>
              <a:t>Measures the AC or DC current flowing through monitored machine.</a:t>
            </a:r>
            <a:br>
              <a:rPr lang="en-IN" sz="2200"/>
            </a:br>
            <a:r>
              <a:rPr lang="en-IN" sz="2200" b="1"/>
              <a:t>MAX9814: </a:t>
            </a:r>
            <a:r>
              <a:rPr lang="en-IN" sz="2200"/>
              <a:t>Microphone used to detect internal sound of the machine.</a:t>
            </a:r>
            <a:br>
              <a:rPr lang="en-IN" sz="2200"/>
            </a:br>
            <a:r>
              <a:rPr lang="en-IN" sz="2200" b="1"/>
              <a:t>LED</a:t>
            </a:r>
            <a:r>
              <a:rPr lang="en-IN" sz="2200"/>
              <a:t>:To provide visual alerts.</a:t>
            </a:r>
            <a:br>
              <a:rPr lang="en-IN" sz="2200"/>
            </a:br>
            <a:r>
              <a:rPr lang="en-IN" sz="2200" b="1"/>
              <a:t>Buzzer</a:t>
            </a:r>
            <a:r>
              <a:rPr lang="en-IN" sz="2200"/>
              <a:t>:To provide audio alerts.</a:t>
            </a:r>
            <a:br>
              <a:rPr lang="en-IN" sz="2200"/>
            </a:br>
            <a:r>
              <a:rPr lang="en-IN" sz="2200" b="1"/>
              <a:t>MicroSD card</a:t>
            </a:r>
            <a:r>
              <a:rPr lang="en-IN" sz="2200"/>
              <a:t>:Used for data logging and send data to cloud.</a:t>
            </a:r>
            <a:endParaRPr lang="en-IN" sz="2000"/>
          </a:p>
        </p:txBody>
      </p:sp>
      <p:graphicFrame>
        <p:nvGraphicFramePr>
          <p:cNvPr id="4" name="Content Placeholder 3"/>
          <p:cNvGraphicFramePr>
            <a:graphicFrameLocks noGrp="1"/>
          </p:cNvGraphicFramePr>
          <p:nvPr>
            <p:ph idx="1"/>
          </p:nvPr>
        </p:nvGraphicFramePr>
        <p:xfrm>
          <a:off x="995515" y="365125"/>
          <a:ext cx="10515600" cy="518160"/>
        </p:xfrm>
        <a:graphic>
          <a:graphicData uri="http://schemas.openxmlformats.org/drawingml/2006/table">
            <a:tbl>
              <a:tblPr firstRow="1" bandRow="1">
                <a:tableStyleId>{5C22544A-7EE6-4342-B048-85BDC9FD1C3A}</a:tableStyleId>
              </a:tblPr>
              <a:tblGrid>
                <a:gridCol w="10515600"/>
              </a:tblGrid>
              <a:tr h="505777">
                <a:tc>
                  <a:txBody>
                    <a:bodyPr/>
                    <a:lstStyle/>
                    <a:p>
                      <a:pPr algn="ctr"/>
                      <a:r>
                        <a:rPr lang="en-IN" sz="2800"/>
                        <a:t>Components used</a:t>
                      </a:r>
                      <a:endParaRPr lang="en-IN" sz="2800"/>
                    </a:p>
                  </a:txBody>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06178"/>
          </a:xfrm>
        </p:spPr>
        <p:txBody>
          <a:bodyPr>
            <a:normAutofit/>
          </a:bodyPr>
          <a:lstStyle/>
          <a:p>
            <a:r>
              <a:rPr lang="en-IN" sz="2400" b="1"/>
              <a:t>Hardware integration </a:t>
            </a:r>
            <a:r>
              <a:rPr lang="en-IN" sz="2400"/>
              <a:t>:Install IoT sensors to continuously stream real-time data.</a:t>
            </a:r>
            <a:br>
              <a:rPr lang="en-IN" sz="2400"/>
            </a:br>
            <a:r>
              <a:rPr lang="en-IN" sz="2400" b="1"/>
              <a:t>Data collection: </a:t>
            </a:r>
            <a:r>
              <a:rPr lang="en-IN" sz="2400"/>
              <a:t>Acquire raw sensor data and securely transfer it to cloud.</a:t>
            </a:r>
            <a:br>
              <a:rPr lang="en-IN" sz="2400"/>
            </a:br>
            <a:r>
              <a:rPr lang="en-IN" sz="2400" b="1"/>
              <a:t>Analomy detection: </a:t>
            </a:r>
            <a:r>
              <a:rPr lang="en-IN" sz="2400"/>
              <a:t>Run lightweight models to detect sudden ,critical failures in real time.</a:t>
            </a:r>
            <a:br>
              <a:rPr lang="en-IN" sz="2400"/>
            </a:br>
            <a:r>
              <a:rPr lang="en-IN" sz="2400" b="1"/>
              <a:t>Model training: </a:t>
            </a:r>
            <a:r>
              <a:rPr lang="en-IN" sz="2400"/>
              <a:t>Use historical data stored in cloud to train advanced predictive models.</a:t>
            </a:r>
            <a:br>
              <a:rPr lang="en-IN" sz="2400"/>
            </a:br>
            <a:r>
              <a:rPr lang="en-IN" sz="2400" b="1"/>
              <a:t>Visualization:</a:t>
            </a:r>
            <a:r>
              <a:rPr lang="en-IN" sz="2400"/>
              <a:t>Present the model outputs (health ststus,predicted fault type) on visualization dashboards.</a:t>
            </a:r>
            <a:br>
              <a:rPr lang="en-IN" sz="2400"/>
            </a:br>
            <a:r>
              <a:rPr lang="en-IN" sz="2400" b="1"/>
              <a:t>Maintenance decision:</a:t>
            </a:r>
            <a:r>
              <a:rPr lang="en-IN" sz="2400"/>
              <a:t>Generate  actionable alerts and recommendations.</a:t>
            </a:r>
            <a:br>
              <a:rPr lang="en-IN" sz="2400"/>
            </a:br>
            <a:endParaRPr lang="en-IN" sz="2400"/>
          </a:p>
        </p:txBody>
      </p:sp>
      <p:graphicFrame>
        <p:nvGraphicFramePr>
          <p:cNvPr id="4" name="Content Placeholder 3"/>
          <p:cNvGraphicFramePr>
            <a:graphicFrameLocks noGrp="1"/>
          </p:cNvGraphicFramePr>
          <p:nvPr>
            <p:ph idx="1"/>
          </p:nvPr>
        </p:nvGraphicFramePr>
        <p:xfrm>
          <a:off x="838200" y="365125"/>
          <a:ext cx="10515600" cy="539443"/>
        </p:xfrm>
        <a:graphic>
          <a:graphicData uri="http://schemas.openxmlformats.org/drawingml/2006/table">
            <a:tbl>
              <a:tblPr firstRow="1" bandRow="1">
                <a:tableStyleId>{5C22544A-7EE6-4342-B048-85BDC9FD1C3A}</a:tableStyleId>
              </a:tblPr>
              <a:tblGrid>
                <a:gridCol w="10515600"/>
              </a:tblGrid>
              <a:tr h="539443">
                <a:tc>
                  <a:txBody>
                    <a:bodyPr/>
                    <a:lstStyle/>
                    <a:p>
                      <a:pPr algn="ctr"/>
                      <a:r>
                        <a:rPr lang="en-IN"/>
                        <a:t> </a:t>
                      </a:r>
                      <a:r>
                        <a:rPr lang="en-IN" sz="2400"/>
                        <a:t>Methodology</a:t>
                      </a:r>
                      <a:endParaRPr lang="en-IN" sz="2400"/>
                    </a:p>
                  </a:txBody>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13026" cy="1325563"/>
          </a:xfrm>
        </p:spPr>
        <p:txBody>
          <a:bodyPr>
            <a:normAutofit fontScale="90000"/>
          </a:bodyPr>
          <a:lstStyle/>
          <a:p>
            <a:br>
              <a:rPr lang="en-IN"/>
            </a:br>
            <a:br>
              <a:rPr lang="en-IN"/>
            </a:br>
            <a:br>
              <a:rPr lang="en-IN"/>
            </a:br>
            <a:endParaRPr lang="en-IN"/>
          </a:p>
        </p:txBody>
      </p:sp>
      <p:graphicFrame>
        <p:nvGraphicFramePr>
          <p:cNvPr id="4" name="Content Placeholder 3"/>
          <p:cNvGraphicFramePr>
            <a:graphicFrameLocks noGrp="1"/>
          </p:cNvGraphicFramePr>
          <p:nvPr>
            <p:ph idx="1"/>
          </p:nvPr>
        </p:nvGraphicFramePr>
        <p:xfrm>
          <a:off x="1056966" y="537599"/>
          <a:ext cx="10515601" cy="518160"/>
        </p:xfrm>
        <a:graphic>
          <a:graphicData uri="http://schemas.openxmlformats.org/drawingml/2006/table">
            <a:tbl>
              <a:tblPr firstRow="1" bandRow="1">
                <a:tableStyleId>{5C22544A-7EE6-4342-B048-85BDC9FD1C3A}</a:tableStyleId>
              </a:tblPr>
              <a:tblGrid>
                <a:gridCol w="10515601"/>
              </a:tblGrid>
              <a:tr h="396466">
                <a:tc>
                  <a:txBody>
                    <a:bodyPr/>
                    <a:lstStyle/>
                    <a:p>
                      <a:r>
                        <a:rPr lang="en-IN" sz="2800"/>
                        <a:t>                                                 Circuit diagram</a:t>
                      </a:r>
                      <a:endParaRPr lang="en-IN" sz="2800"/>
                    </a:p>
                  </a:txBody>
                  <a:tcPr/>
                </a:tc>
              </a:tr>
            </a:tbl>
          </a:graphicData>
        </a:graphic>
      </p:graphicFrame>
      <p:pic>
        <p:nvPicPr>
          <p:cNvPr id="7" name="Picture 6"/>
          <p:cNvPicPr>
            <a:picLocks noChangeAspect="1"/>
          </p:cNvPicPr>
          <p:nvPr/>
        </p:nvPicPr>
        <p:blipFill>
          <a:blip r:embed="rId1"/>
          <a:stretch>
            <a:fillRect/>
          </a:stretch>
        </p:blipFill>
        <p:spPr>
          <a:xfrm>
            <a:off x="1317523" y="1091381"/>
            <a:ext cx="9202993" cy="5766619"/>
          </a:xfrm>
          <a:prstGeom prst="rect">
            <a:avLst/>
          </a:prstGeom>
        </p:spPr>
      </p:pic>
      <p:sp>
        <p:nvSpPr>
          <p:cNvPr id="3" name="Text Box 2"/>
          <p:cNvSpPr txBox="1"/>
          <p:nvPr/>
        </p:nvSpPr>
        <p:spPr>
          <a:xfrm>
            <a:off x="9331960" y="6099810"/>
            <a:ext cx="742315" cy="81280"/>
          </a:xfrm>
          <a:prstGeom prst="rect">
            <a:avLst/>
          </a:prstGeom>
          <a:solidFill>
            <a:schemeClr val="bg1"/>
          </a:solidFill>
        </p:spPr>
        <p:txBody>
          <a:bodyPr wrap="square" rtlCol="0">
            <a:noAutofit/>
          </a:bodyPr>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838200" y="481781"/>
          <a:ext cx="10515600" cy="521109"/>
        </p:xfrm>
        <a:graphic>
          <a:graphicData uri="http://schemas.openxmlformats.org/drawingml/2006/table">
            <a:tbl>
              <a:tblPr firstRow="1" bandRow="1">
                <a:tableStyleId>{5C22544A-7EE6-4342-B048-85BDC9FD1C3A}</a:tableStyleId>
              </a:tblPr>
              <a:tblGrid>
                <a:gridCol w="10515600"/>
              </a:tblGrid>
              <a:tr h="521109">
                <a:tc>
                  <a:txBody>
                    <a:bodyPr/>
                    <a:lstStyle/>
                    <a:p>
                      <a:pPr algn="ctr"/>
                      <a:r>
                        <a:rPr lang="en-IN" sz="2400"/>
                        <a:t>Implementation on breadboard</a:t>
                      </a:r>
                      <a:endParaRPr lang="en-IN" sz="2400"/>
                    </a:p>
                  </a:txBody>
                  <a:tcPr/>
                </a:tc>
              </a:tr>
            </a:tbl>
          </a:graphicData>
        </a:graphic>
      </p:graphicFrame>
      <p:pic>
        <p:nvPicPr>
          <p:cNvPr id="9" name="Picture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355219" y="1199535"/>
            <a:ext cx="4950619" cy="508327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202425"/>
            <a:ext cx="10515600" cy="3974537"/>
          </a:xfrm>
        </p:spPr>
        <p:txBody>
          <a:bodyPr>
            <a:normAutofit/>
          </a:bodyPr>
          <a:lstStyle/>
          <a:p>
            <a:pPr marL="0" indent="0" algn="ctr">
              <a:buNone/>
            </a:pPr>
            <a:r>
              <a:rPr lang="en-IN" sz="6000"/>
              <a:t>Thank You</a:t>
            </a:r>
            <a:endParaRPr lang="en-IN" sz="60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2969</Words>
  <Application>WPS Presentation</Application>
  <PresentationFormat>Widescreen</PresentationFormat>
  <Paragraphs>89</Paragraphs>
  <Slides>10</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10</vt:i4>
      </vt:variant>
    </vt:vector>
  </HeadingPairs>
  <TitlesOfParts>
    <vt:vector size="22" baseType="lpstr">
      <vt:lpstr>Arial</vt:lpstr>
      <vt:lpstr>SimSun</vt:lpstr>
      <vt:lpstr>Wingdings</vt:lpstr>
      <vt:lpstr>Arial Black</vt:lpstr>
      <vt:lpstr>Algerian</vt:lpstr>
      <vt:lpstr>Gabriola</vt:lpstr>
      <vt:lpstr>Calibri</vt:lpstr>
      <vt:lpstr>Calibri Light</vt:lpstr>
      <vt:lpstr>Microsoft YaHei</vt:lpstr>
      <vt:lpstr>Arial Unicode MS</vt:lpstr>
      <vt:lpstr>Calibri</vt:lpstr>
      <vt:lpstr>Office Theme</vt:lpstr>
      <vt:lpstr>PowerPoint 演示文稿</vt:lpstr>
      <vt:lpstr>PowerPoint 演示文稿</vt:lpstr>
      <vt:lpstr> To monitor machine health in real-time using IoT sensors.  To predict failures in advance using AI and Machine Learning models.  To reduce unplanned downtime and improve overall equipment efficiency (OEE).  To minimize maintenance costs by performing servicing only when required.  To increase machine lifespan through timely and accurate maintenance.  To enhance safety by preventing sudden breakdowns or accidents.  To provide a dashboard and alerts system for easy decision-making by maintenance teams. </vt:lpstr>
      <vt:lpstr>PowerPoint 演示文稿</vt:lpstr>
      <vt:lpstr>PowerPoint 演示文稿</vt:lpstr>
      <vt:lpstr>ESP32 Devkit :The microcontroller, to read the from all sensors,process data. ADS1115: High resolution anolog to digital converter. ADXL345 module: For Vibration/Shock moitoring.measures acceleration along X,Y,Z axes RTCDS3231:High accuracy Real-time.  Current sensor ACS712:Measures the AC or DC current flowing through monitored machine. MAX9814: Microphone used to detect internal sound of the machine. LED:To provide visual alerts. Buzzer:To provide audio alerts. MicroSD card:Used for data logging and send data to cloud.</vt:lpstr>
      <vt:lpstr>Hardware integration :Install IoT sensors to continuously stream real-time data. Data collection: Acquire raw sensor data and securely transfer it to cloud. Analomy detection: Run lightweight models to detect sudden ,critical failures in real time. Model training: Use historical data stored in cloud to train advanced predictive models. Visualization:Present the model outputs (health ststus,predicted fault type) on visualization dashboards. Maintenance decision:Generate  actionable alerts and recommendations. </vt:lpstr>
      <vt:lpstr>   </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Shravani Shalrushi</dc:creator>
  <cp:lastModifiedBy>nehas</cp:lastModifiedBy>
  <cp:revision>3</cp:revision>
  <dcterms:created xsi:type="dcterms:W3CDTF">2025-11-13T22:37:00Z</dcterms:created>
  <dcterms:modified xsi:type="dcterms:W3CDTF">2025-11-14T08:52:26Z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93ACECC22D4146FAB39C61999504036D_12</vt:lpwstr>
  </property>
  <property fmtid="{D5CDD505-2E9C-101B-9397-08002B2CF9AE}" pid="3" name="KSOProductBuildVer">
    <vt:lpwstr>1033-12.2.0.23155</vt:lpwstr>
  </property>
</Properties>
</file>